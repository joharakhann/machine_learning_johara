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6858000" cy="9144000"/>
  <p:embeddedFontLst>
    <p:embeddedFont>
      <p:font typeface="Catchy Mager" charset="1" panose="02000506000000020004"/>
      <p:regular r:id="rId13"/>
    </p:embeddedFont>
    <p:embeddedFont>
      <p:font typeface="Adventures Unlimited " charset="1" panose="00000500000000000000"/>
      <p:regular r:id="rId14"/>
    </p:embeddedFont>
    <p:embeddedFont>
      <p:font typeface="Canva Sans" charset="1" panose="020B0503030501040103"/>
      <p:regular r:id="rId15"/>
    </p:embeddedFont>
    <p:embeddedFont>
      <p:font typeface="Montserrat Bold" charset="1" panose="00000800000000000000"/>
      <p:regular r:id="rId16"/>
    </p:embeddedFont>
    <p:embeddedFont>
      <p:font typeface="Canva Sans Bold" charset="1" panose="020B0803030501040103"/>
      <p:regular r:id="rId17"/>
    </p:embeddedFont>
    <p:embeddedFont>
      <p:font typeface="Montserrat" charset="1" panose="0000050000000000000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1576" t="-3683" r="-850" b="-48743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825571" y="648590"/>
            <a:ext cx="16636859" cy="8989819"/>
            <a:chOff x="0" y="0"/>
            <a:chExt cx="4381724" cy="236768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381724" cy="2367689"/>
            </a:xfrm>
            <a:custGeom>
              <a:avLst/>
              <a:gdLst/>
              <a:ahLst/>
              <a:cxnLst/>
              <a:rect r="r" b="b" t="t" l="l"/>
              <a:pathLst>
                <a:path h="2367689" w="4381724">
                  <a:moveTo>
                    <a:pt x="0" y="0"/>
                  </a:moveTo>
                  <a:lnTo>
                    <a:pt x="4381724" y="0"/>
                  </a:lnTo>
                  <a:lnTo>
                    <a:pt x="4381724" y="2367689"/>
                  </a:lnTo>
                  <a:lnTo>
                    <a:pt x="0" y="2367689"/>
                  </a:lnTo>
                  <a:close/>
                </a:path>
              </a:pathLst>
            </a:custGeom>
            <a:ln w="38100" cap="sq">
              <a:solidFill>
                <a:srgbClr val="F3F0F1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38100"/>
              <a:ext cx="4381724" cy="23295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56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028700" y="2608131"/>
            <a:ext cx="16230600" cy="15405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99"/>
              </a:lnSpc>
            </a:pPr>
            <a:r>
              <a:rPr lang="en-US" sz="5899" spc="1587">
                <a:solidFill>
                  <a:srgbClr val="260317"/>
                </a:solidFill>
                <a:latin typeface="Catchy Mager"/>
                <a:ea typeface="Catchy Mager"/>
                <a:cs typeface="Catchy Mager"/>
                <a:sym typeface="Catchy Mager"/>
              </a:rPr>
              <a:t>DEC</a:t>
            </a:r>
            <a:r>
              <a:rPr lang="en-US" sz="5899" spc="1587">
                <a:solidFill>
                  <a:srgbClr val="260317"/>
                </a:solidFill>
                <a:latin typeface="Catchy Mager"/>
                <a:ea typeface="Catchy Mager"/>
                <a:cs typeface="Catchy Mager"/>
                <a:sym typeface="Catchy Mager"/>
              </a:rPr>
              <a:t>ISION TREE LEARNING</a:t>
            </a:r>
          </a:p>
          <a:p>
            <a:pPr algn="ctr">
              <a:lnSpc>
                <a:spcPts val="5899"/>
              </a:lnSpc>
            </a:pPr>
            <a:r>
              <a:rPr lang="en-US" sz="5899" spc="1587">
                <a:solidFill>
                  <a:srgbClr val="260317"/>
                </a:solidFill>
                <a:latin typeface="Catchy Mager"/>
                <a:ea typeface="Catchy Mager"/>
                <a:cs typeface="Catchy Mager"/>
                <a:sym typeface="Catchy Mager"/>
              </a:rPr>
              <a:t>AND REPRESENTATION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3945821"/>
            <a:ext cx="16230600" cy="155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600"/>
              </a:lnSpc>
            </a:pPr>
            <a:r>
              <a:rPr lang="en-US" sz="11600">
                <a:solidFill>
                  <a:srgbClr val="260317"/>
                </a:solidFill>
                <a:latin typeface="Adventures Unlimited "/>
                <a:ea typeface="Adventures Unlimited "/>
                <a:cs typeface="Adventures Unlimited "/>
                <a:sym typeface="Adventures Unlimited "/>
              </a:rPr>
              <a:t>CO1 AT3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91746" y="7309529"/>
            <a:ext cx="7752254" cy="1180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260317"/>
                </a:solidFill>
                <a:latin typeface="Canva Sans"/>
                <a:ea typeface="Canva Sans"/>
                <a:cs typeface="Canva Sans"/>
                <a:sym typeface="Canva Sans"/>
              </a:rPr>
              <a:t>by,</a:t>
            </a:r>
          </a:p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260317"/>
                </a:solidFill>
                <a:latin typeface="Canva Sans"/>
                <a:ea typeface="Canva Sans"/>
                <a:cs typeface="Canva Sans"/>
                <a:sym typeface="Canva Sans"/>
              </a:rPr>
              <a:t>Fathi Muthu Johara M (192411009)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530098" y="7309529"/>
            <a:ext cx="3111937" cy="1180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260317"/>
                </a:solidFill>
                <a:latin typeface="Canva Sans"/>
                <a:ea typeface="Canva Sans"/>
                <a:cs typeface="Canva Sans"/>
                <a:sym typeface="Canva Sans"/>
              </a:rPr>
              <a:t>Faculty,</a:t>
            </a:r>
          </a:p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260317"/>
                </a:solidFill>
                <a:latin typeface="Canva Sans"/>
                <a:ea typeface="Canva Sans"/>
                <a:cs typeface="Canva Sans"/>
                <a:sym typeface="Canva Sans"/>
              </a:rPr>
              <a:t>Dr.Sivakumar K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5431096"/>
            <a:ext cx="16230600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260317"/>
                </a:solidFill>
                <a:latin typeface="Canva Sans"/>
                <a:ea typeface="Canva Sans"/>
                <a:cs typeface="Canva Sans"/>
                <a:sym typeface="Canva Sans"/>
              </a:rPr>
              <a:t>ITA0611 - MACHINE LEARNING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0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5571" y="648590"/>
            <a:ext cx="16636859" cy="8989819"/>
            <a:chOff x="0" y="0"/>
            <a:chExt cx="4381724" cy="236768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81724" cy="2367689"/>
            </a:xfrm>
            <a:custGeom>
              <a:avLst/>
              <a:gdLst/>
              <a:ahLst/>
              <a:cxnLst/>
              <a:rect r="r" b="b" t="t" l="l"/>
              <a:pathLst>
                <a:path h="2367689" w="4381724">
                  <a:moveTo>
                    <a:pt x="0" y="0"/>
                  </a:moveTo>
                  <a:lnTo>
                    <a:pt x="4381724" y="0"/>
                  </a:lnTo>
                  <a:lnTo>
                    <a:pt x="4381724" y="2367689"/>
                  </a:lnTo>
                  <a:lnTo>
                    <a:pt x="0" y="2367689"/>
                  </a:lnTo>
                  <a:close/>
                </a:path>
              </a:pathLst>
            </a:custGeom>
            <a:ln w="9525" cap="sq">
              <a:solidFill>
                <a:srgbClr val="260317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38100"/>
              <a:ext cx="4381724" cy="23295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56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1719645" y="5143500"/>
            <a:ext cx="4927338" cy="3257744"/>
          </a:xfrm>
          <a:custGeom>
            <a:avLst/>
            <a:gdLst/>
            <a:ahLst/>
            <a:cxnLst/>
            <a:rect r="r" b="b" t="t" l="l"/>
            <a:pathLst>
              <a:path h="3257744" w="4927338">
                <a:moveTo>
                  <a:pt x="0" y="0"/>
                </a:moveTo>
                <a:lnTo>
                  <a:pt x="4927338" y="0"/>
                </a:lnTo>
                <a:lnTo>
                  <a:pt x="4927338" y="3257744"/>
                </a:lnTo>
                <a:lnTo>
                  <a:pt x="0" y="325774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549636" y="2690820"/>
            <a:ext cx="13188727" cy="474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51"/>
              </a:lnSpc>
            </a:pPr>
            <a:r>
              <a:rPr lang="en-US" b="true" sz="3699" spc="2034">
                <a:solidFill>
                  <a:srgbClr val="26031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WHAT IS A DECISION TREE?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34024" y="4219892"/>
            <a:ext cx="13986392" cy="1780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260317"/>
                </a:solidFill>
                <a:latin typeface="Canva Sans"/>
                <a:ea typeface="Canva Sans"/>
                <a:cs typeface="Canva Sans"/>
                <a:sym typeface="Canva Sans"/>
              </a:rPr>
              <a:t>A decision tree is a tree-based model used for making decisions.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260317"/>
                </a:solidFill>
                <a:latin typeface="Canva Sans"/>
                <a:ea typeface="Canva Sans"/>
                <a:cs typeface="Canva Sans"/>
                <a:sym typeface="Canva Sans"/>
              </a:rPr>
              <a:t>It represents knowledge in the form of a tree.</a:t>
            </a:r>
          </a:p>
          <a:p>
            <a:pPr algn="l">
              <a:lnSpc>
                <a:spcPts val="4759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1334024" y="5677535"/>
            <a:ext cx="13986392" cy="3580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 b="true">
                <a:solidFill>
                  <a:srgbClr val="260317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It contains: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260317"/>
                </a:solidFill>
                <a:latin typeface="Canva Sans"/>
                <a:ea typeface="Canva Sans"/>
                <a:cs typeface="Canva Sans"/>
                <a:sym typeface="Canva Sans"/>
              </a:rPr>
              <a:t>Root no</a:t>
            </a:r>
            <a:r>
              <a:rPr lang="en-US" sz="3399">
                <a:solidFill>
                  <a:srgbClr val="260317"/>
                </a:solidFill>
                <a:latin typeface="Canva Sans"/>
                <a:ea typeface="Canva Sans"/>
                <a:cs typeface="Canva Sans"/>
                <a:sym typeface="Canva Sans"/>
              </a:rPr>
              <a:t>de – starting point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260317"/>
                </a:solidFill>
                <a:latin typeface="Canva Sans"/>
                <a:ea typeface="Canva Sans"/>
                <a:cs typeface="Canva Sans"/>
                <a:sym typeface="Canva Sans"/>
              </a:rPr>
              <a:t>Decision nodes – conditions or questions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260317"/>
                </a:solidFill>
                <a:latin typeface="Canva Sans"/>
                <a:ea typeface="Canva Sans"/>
                <a:cs typeface="Canva Sans"/>
                <a:sym typeface="Canva Sans"/>
              </a:rPr>
              <a:t>Branches – possible outcomes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260317"/>
                </a:solidFill>
                <a:latin typeface="Canva Sans"/>
                <a:ea typeface="Canva Sans"/>
                <a:cs typeface="Canva Sans"/>
                <a:sym typeface="Canva Sans"/>
              </a:rPr>
              <a:t>Leaf nodes – final result/class</a:t>
            </a:r>
          </a:p>
          <a:p>
            <a:pPr algn="l">
              <a:lnSpc>
                <a:spcPts val="4759"/>
              </a:lnSpc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1576" t="-3683" r="-850" b="-48743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825571" y="648590"/>
            <a:ext cx="16636859" cy="8989819"/>
            <a:chOff x="0" y="0"/>
            <a:chExt cx="4381724" cy="236768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381724" cy="2367689"/>
            </a:xfrm>
            <a:custGeom>
              <a:avLst/>
              <a:gdLst/>
              <a:ahLst/>
              <a:cxnLst/>
              <a:rect r="r" b="b" t="t" l="l"/>
              <a:pathLst>
                <a:path h="2367689" w="4381724">
                  <a:moveTo>
                    <a:pt x="0" y="0"/>
                  </a:moveTo>
                  <a:lnTo>
                    <a:pt x="4381724" y="0"/>
                  </a:lnTo>
                  <a:lnTo>
                    <a:pt x="4381724" y="2367689"/>
                  </a:lnTo>
                  <a:lnTo>
                    <a:pt x="0" y="2367689"/>
                  </a:lnTo>
                  <a:close/>
                </a:path>
              </a:pathLst>
            </a:custGeom>
            <a:ln w="38100" cap="sq">
              <a:solidFill>
                <a:srgbClr val="F3F0F1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38100"/>
              <a:ext cx="4381724" cy="23295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56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0296712" y="3215751"/>
            <a:ext cx="6572445" cy="5076793"/>
          </a:xfrm>
          <a:custGeom>
            <a:avLst/>
            <a:gdLst/>
            <a:ahLst/>
            <a:cxnLst/>
            <a:rect r="r" b="b" t="t" l="l"/>
            <a:pathLst>
              <a:path h="5076793" w="6572445">
                <a:moveTo>
                  <a:pt x="0" y="0"/>
                </a:moveTo>
                <a:lnTo>
                  <a:pt x="6572445" y="0"/>
                </a:lnTo>
                <a:lnTo>
                  <a:pt x="6572445" y="5076792"/>
                </a:lnTo>
                <a:lnTo>
                  <a:pt x="0" y="507679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263564" y="3389996"/>
            <a:ext cx="9268012" cy="50551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31349" indent="-315674" lvl="1">
              <a:lnSpc>
                <a:spcPts val="5029"/>
              </a:lnSpc>
              <a:buFont typeface="Arial"/>
              <a:buChar char="•"/>
            </a:pPr>
            <a:r>
              <a:rPr lang="en-US" sz="2924">
                <a:solidFill>
                  <a:srgbClr val="260317"/>
                </a:solidFill>
                <a:latin typeface="Montserrat"/>
                <a:ea typeface="Montserrat"/>
                <a:cs typeface="Montserrat"/>
                <a:sym typeface="Montserrat"/>
              </a:rPr>
              <a:t>Sta</a:t>
            </a:r>
            <a:r>
              <a:rPr lang="en-US" sz="2924">
                <a:solidFill>
                  <a:srgbClr val="260317"/>
                </a:solidFill>
                <a:latin typeface="Montserrat"/>
                <a:ea typeface="Montserrat"/>
                <a:cs typeface="Montserrat"/>
                <a:sym typeface="Montserrat"/>
              </a:rPr>
              <a:t>rt with the complete training dataset.</a:t>
            </a:r>
          </a:p>
          <a:p>
            <a:pPr algn="l" marL="631349" indent="-315674" lvl="1">
              <a:lnSpc>
                <a:spcPts val="5029"/>
              </a:lnSpc>
              <a:buFont typeface="Arial"/>
              <a:buChar char="•"/>
            </a:pPr>
            <a:r>
              <a:rPr lang="en-US" sz="2924">
                <a:solidFill>
                  <a:srgbClr val="260317"/>
                </a:solidFill>
                <a:latin typeface="Montserrat"/>
                <a:ea typeface="Montserrat"/>
                <a:cs typeface="Montserrat"/>
                <a:sym typeface="Montserrat"/>
              </a:rPr>
              <a:t>Select the best feature for splitting.</a:t>
            </a:r>
          </a:p>
          <a:p>
            <a:pPr algn="l" marL="631349" indent="-315674" lvl="1">
              <a:lnSpc>
                <a:spcPts val="5029"/>
              </a:lnSpc>
              <a:buFont typeface="Arial"/>
              <a:buChar char="•"/>
            </a:pPr>
            <a:r>
              <a:rPr lang="en-US" sz="2924">
                <a:solidFill>
                  <a:srgbClr val="260317"/>
                </a:solidFill>
                <a:latin typeface="Montserrat"/>
                <a:ea typeface="Montserrat"/>
                <a:cs typeface="Montserrat"/>
                <a:sym typeface="Montserrat"/>
              </a:rPr>
              <a:t>Divide the dataset based on that feature.</a:t>
            </a:r>
          </a:p>
          <a:p>
            <a:pPr algn="l" marL="631349" indent="-315674" lvl="1">
              <a:lnSpc>
                <a:spcPts val="5029"/>
              </a:lnSpc>
              <a:buFont typeface="Arial"/>
              <a:buChar char="•"/>
            </a:pPr>
            <a:r>
              <a:rPr lang="en-US" sz="2924">
                <a:solidFill>
                  <a:srgbClr val="260317"/>
                </a:solidFill>
                <a:latin typeface="Montserrat"/>
                <a:ea typeface="Montserrat"/>
                <a:cs typeface="Montserrat"/>
                <a:sym typeface="Montserrat"/>
              </a:rPr>
              <a:t>Repeat the process for each branch.</a:t>
            </a:r>
          </a:p>
          <a:p>
            <a:pPr algn="l" marL="631349" indent="-315674" lvl="1">
              <a:lnSpc>
                <a:spcPts val="5029"/>
              </a:lnSpc>
              <a:buFont typeface="Arial"/>
              <a:buChar char="•"/>
            </a:pPr>
            <a:r>
              <a:rPr lang="en-US" sz="2924">
                <a:solidFill>
                  <a:srgbClr val="260317"/>
                </a:solidFill>
                <a:latin typeface="Montserrat"/>
                <a:ea typeface="Montserrat"/>
                <a:cs typeface="Montserrat"/>
                <a:sym typeface="Montserrat"/>
              </a:rPr>
              <a:t>Stop when a suitable stopping condition is reached.</a:t>
            </a:r>
          </a:p>
          <a:p>
            <a:pPr algn="l" marL="631349" indent="-315674" lvl="1">
              <a:lnSpc>
                <a:spcPts val="5029"/>
              </a:lnSpc>
              <a:buFont typeface="Arial"/>
              <a:buChar char="•"/>
            </a:pPr>
            <a:r>
              <a:rPr lang="en-US" sz="2924">
                <a:solidFill>
                  <a:srgbClr val="260317"/>
                </a:solidFill>
                <a:latin typeface="Montserrat"/>
                <a:ea typeface="Montserrat"/>
                <a:cs typeface="Montserrat"/>
                <a:sym typeface="Montserrat"/>
              </a:rPr>
              <a:t>The final nodes give the prediction.</a:t>
            </a:r>
          </a:p>
          <a:p>
            <a:pPr algn="l">
              <a:lnSpc>
                <a:spcPts val="5029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2039552" y="1899241"/>
            <a:ext cx="14208896" cy="7901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738"/>
              </a:lnSpc>
            </a:pPr>
            <a:r>
              <a:rPr lang="en-US" sz="5977" spc="663">
                <a:solidFill>
                  <a:srgbClr val="260317"/>
                </a:solidFill>
                <a:latin typeface="Catchy Mager"/>
                <a:ea typeface="Catchy Mager"/>
                <a:cs typeface="Catchy Mager"/>
                <a:sym typeface="Catchy Mager"/>
              </a:rPr>
              <a:t>WORKING OF </a:t>
            </a:r>
            <a:r>
              <a:rPr lang="en-US" sz="5977" spc="663">
                <a:solidFill>
                  <a:srgbClr val="260317"/>
                </a:solidFill>
                <a:latin typeface="Catchy Mager"/>
                <a:ea typeface="Catchy Mager"/>
                <a:cs typeface="Catchy Mager"/>
                <a:sym typeface="Catchy Mager"/>
              </a:rPr>
              <a:t>DECISION TREE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0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5571" y="648590"/>
            <a:ext cx="16636859" cy="8989819"/>
            <a:chOff x="0" y="0"/>
            <a:chExt cx="4381724" cy="236768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81724" cy="2367689"/>
            </a:xfrm>
            <a:custGeom>
              <a:avLst/>
              <a:gdLst/>
              <a:ahLst/>
              <a:cxnLst/>
              <a:rect r="r" b="b" t="t" l="l"/>
              <a:pathLst>
                <a:path h="2367689" w="4381724">
                  <a:moveTo>
                    <a:pt x="0" y="0"/>
                  </a:moveTo>
                  <a:lnTo>
                    <a:pt x="4381724" y="0"/>
                  </a:lnTo>
                  <a:lnTo>
                    <a:pt x="4381724" y="2367689"/>
                  </a:lnTo>
                  <a:lnTo>
                    <a:pt x="0" y="2367689"/>
                  </a:lnTo>
                  <a:close/>
                </a:path>
              </a:pathLst>
            </a:custGeom>
            <a:ln w="9525" cap="sq">
              <a:solidFill>
                <a:srgbClr val="260317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38100"/>
              <a:ext cx="4381724" cy="23295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56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297766" y="1588113"/>
            <a:ext cx="13430661" cy="1037213"/>
            <a:chOff x="0" y="0"/>
            <a:chExt cx="3537293" cy="27317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537293" cy="273176"/>
            </a:xfrm>
            <a:custGeom>
              <a:avLst/>
              <a:gdLst/>
              <a:ahLst/>
              <a:cxnLst/>
              <a:rect r="r" b="b" t="t" l="l"/>
              <a:pathLst>
                <a:path h="273176" w="3537293">
                  <a:moveTo>
                    <a:pt x="0" y="0"/>
                  </a:moveTo>
                  <a:lnTo>
                    <a:pt x="3537293" y="0"/>
                  </a:lnTo>
                  <a:lnTo>
                    <a:pt x="3537293" y="273176"/>
                  </a:lnTo>
                  <a:lnTo>
                    <a:pt x="0" y="273176"/>
                  </a:lnTo>
                  <a:close/>
                </a:path>
              </a:pathLst>
            </a:custGeom>
            <a:solidFill>
              <a:srgbClr val="EAD3E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3537293" cy="3112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r">
                <a:lnSpc>
                  <a:spcPts val="265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2183817" y="4085626"/>
            <a:ext cx="4615936" cy="4959676"/>
          </a:xfrm>
          <a:custGeom>
            <a:avLst/>
            <a:gdLst/>
            <a:ahLst/>
            <a:cxnLst/>
            <a:rect r="r" b="b" t="t" l="l"/>
            <a:pathLst>
              <a:path h="4959676" w="4615936">
                <a:moveTo>
                  <a:pt x="0" y="0"/>
                </a:moveTo>
                <a:lnTo>
                  <a:pt x="4615936" y="0"/>
                </a:lnTo>
                <a:lnTo>
                  <a:pt x="4615936" y="4959676"/>
                </a:lnTo>
                <a:lnTo>
                  <a:pt x="0" y="495967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297766" y="2770578"/>
            <a:ext cx="12957377" cy="25062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73093" indent="-336547" lvl="1">
              <a:lnSpc>
                <a:spcPts val="5081"/>
              </a:lnSpc>
              <a:buFont typeface="Arial"/>
              <a:buChar char="•"/>
            </a:pPr>
            <a:r>
              <a:rPr lang="en-US" sz="3117">
                <a:solidFill>
                  <a:srgbClr val="260317"/>
                </a:solidFill>
                <a:latin typeface="Montserrat"/>
                <a:ea typeface="Montserrat"/>
                <a:cs typeface="Montserrat"/>
                <a:sym typeface="Montserrat"/>
              </a:rPr>
              <a:t>Ent</a:t>
            </a:r>
            <a:r>
              <a:rPr lang="en-US" sz="3117">
                <a:solidFill>
                  <a:srgbClr val="260317"/>
                </a:solidFill>
                <a:latin typeface="Montserrat"/>
                <a:ea typeface="Montserrat"/>
                <a:cs typeface="Montserrat"/>
                <a:sym typeface="Montserrat"/>
              </a:rPr>
              <a:t>ropy measures the impurity or uncertainty in a dataset.</a:t>
            </a:r>
          </a:p>
          <a:p>
            <a:pPr algn="l" marL="673093" indent="-336547" lvl="1">
              <a:lnSpc>
                <a:spcPts val="5081"/>
              </a:lnSpc>
              <a:buFont typeface="Arial"/>
              <a:buChar char="•"/>
            </a:pPr>
            <a:r>
              <a:rPr lang="en-US" sz="3117">
                <a:solidFill>
                  <a:srgbClr val="260317"/>
                </a:solidFill>
                <a:latin typeface="Montserrat"/>
                <a:ea typeface="Montserrat"/>
                <a:cs typeface="Montserrat"/>
                <a:sym typeface="Montserrat"/>
              </a:rPr>
              <a:t>Lower entropy means the data is more pure.</a:t>
            </a:r>
          </a:p>
          <a:p>
            <a:pPr algn="l" marL="673093" indent="-336547" lvl="1">
              <a:lnSpc>
                <a:spcPts val="5081"/>
              </a:lnSpc>
              <a:spcBef>
                <a:spcPct val="0"/>
              </a:spcBef>
              <a:buFont typeface="Arial"/>
              <a:buChar char="•"/>
            </a:pPr>
            <a:r>
              <a:rPr lang="en-US" sz="3117">
                <a:solidFill>
                  <a:srgbClr val="260317"/>
                </a:solidFill>
                <a:latin typeface="Montserrat"/>
                <a:ea typeface="Montserrat"/>
                <a:cs typeface="Montserrat"/>
                <a:sym typeface="Montserrat"/>
              </a:rPr>
              <a:t>Higher entropy means the data is more mixed.</a:t>
            </a:r>
          </a:p>
          <a:p>
            <a:pPr algn="l">
              <a:lnSpc>
                <a:spcPts val="5081"/>
              </a:lnSpc>
              <a:spcBef>
                <a:spcPct val="0"/>
              </a:spcBef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1843135" y="1803371"/>
            <a:ext cx="6169961" cy="7209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08"/>
              </a:lnSpc>
            </a:pPr>
            <a:r>
              <a:rPr lang="en-US" sz="5529" spc="398" b="true">
                <a:solidFill>
                  <a:srgbClr val="26031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ENTROPY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534408" y="5162550"/>
            <a:ext cx="12957377" cy="40860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1"/>
              </a:lnSpc>
            </a:pPr>
            <a:r>
              <a:rPr lang="en-US" sz="3399" b="true">
                <a:solidFill>
                  <a:srgbClr val="260317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Formul</a:t>
            </a:r>
            <a:r>
              <a:rPr lang="en-US" b="true" sz="3399">
                <a:solidFill>
                  <a:srgbClr val="260317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</a:t>
            </a:r>
          </a:p>
          <a:p>
            <a:pPr algn="l">
              <a:lnSpc>
                <a:spcPts val="3399"/>
              </a:lnSpc>
            </a:pPr>
            <a:r>
              <a:rPr lang="en-US" sz="3399">
                <a:solidFill>
                  <a:srgbClr val="260317"/>
                </a:solidFill>
                <a:latin typeface="Canva Sans"/>
                <a:ea typeface="Canva Sans"/>
                <a:cs typeface="Canva Sans"/>
                <a:sym typeface="Canva Sans"/>
              </a:rPr>
              <a:t>      </a:t>
            </a:r>
            <a:r>
              <a:rPr lang="en-US" sz="3399">
                <a:solidFill>
                  <a:srgbClr val="260317"/>
                </a:solidFill>
                <a:latin typeface="Canva Sans"/>
                <a:ea typeface="Canva Sans"/>
                <a:cs typeface="Canva Sans"/>
                <a:sym typeface="Canva Sans"/>
              </a:rPr>
              <a:t>Entropy(S) = −Σ pᵢ log₂(pᵢ)</a:t>
            </a:r>
          </a:p>
          <a:p>
            <a:pPr algn="l">
              <a:lnSpc>
                <a:spcPts val="4759"/>
              </a:lnSpc>
            </a:pPr>
          </a:p>
          <a:p>
            <a:pPr algn="l">
              <a:lnSpc>
                <a:spcPts val="4759"/>
              </a:lnSpc>
            </a:pPr>
            <a:r>
              <a:rPr lang="en-US" b="true" sz="3399">
                <a:solidFill>
                  <a:srgbClr val="260317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Where: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260317"/>
                </a:solidFill>
                <a:latin typeface="Canva Sans"/>
                <a:ea typeface="Canva Sans"/>
                <a:cs typeface="Canva Sans"/>
                <a:sym typeface="Canva Sans"/>
              </a:rPr>
              <a:t>S = dataset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260317"/>
                </a:solidFill>
                <a:latin typeface="Canva Sans"/>
                <a:ea typeface="Canva Sans"/>
                <a:cs typeface="Canva Sans"/>
                <a:sym typeface="Canva Sans"/>
              </a:rPr>
              <a:t>pᵢ = probability of each class</a:t>
            </a:r>
          </a:p>
          <a:p>
            <a:pPr algn="l">
              <a:lnSpc>
                <a:spcPts val="4759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1576" t="-3683" r="-850" b="-48743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825571" y="648590"/>
            <a:ext cx="16636859" cy="8989819"/>
            <a:chOff x="0" y="0"/>
            <a:chExt cx="4381724" cy="236768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381724" cy="2367689"/>
            </a:xfrm>
            <a:custGeom>
              <a:avLst/>
              <a:gdLst/>
              <a:ahLst/>
              <a:cxnLst/>
              <a:rect r="r" b="b" t="t" l="l"/>
              <a:pathLst>
                <a:path h="2367689" w="4381724">
                  <a:moveTo>
                    <a:pt x="0" y="0"/>
                  </a:moveTo>
                  <a:lnTo>
                    <a:pt x="4381724" y="0"/>
                  </a:lnTo>
                  <a:lnTo>
                    <a:pt x="4381724" y="2367689"/>
                  </a:lnTo>
                  <a:lnTo>
                    <a:pt x="0" y="2367689"/>
                  </a:lnTo>
                  <a:close/>
                </a:path>
              </a:pathLst>
            </a:custGeom>
            <a:ln w="38100" cap="sq">
              <a:solidFill>
                <a:srgbClr val="F3F0F1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38100"/>
              <a:ext cx="4381724" cy="23295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56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3686943" y="4277949"/>
            <a:ext cx="3572357" cy="5117702"/>
          </a:xfrm>
          <a:custGeom>
            <a:avLst/>
            <a:gdLst/>
            <a:ahLst/>
            <a:cxnLst/>
            <a:rect r="r" b="b" t="t" l="l"/>
            <a:pathLst>
              <a:path h="5117702" w="3572357">
                <a:moveTo>
                  <a:pt x="0" y="0"/>
                </a:moveTo>
                <a:lnTo>
                  <a:pt x="3572357" y="0"/>
                </a:lnTo>
                <a:lnTo>
                  <a:pt x="3572357" y="5117702"/>
                </a:lnTo>
                <a:lnTo>
                  <a:pt x="0" y="511770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28700" y="2925117"/>
            <a:ext cx="14133503" cy="2543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23290" indent="-311645" lvl="1">
              <a:lnSpc>
                <a:spcPts val="5109"/>
              </a:lnSpc>
              <a:buFont typeface="Arial"/>
              <a:buChar char="•"/>
            </a:pPr>
            <a:r>
              <a:rPr lang="en-US" sz="2886" spc="170">
                <a:solidFill>
                  <a:srgbClr val="260317"/>
                </a:solidFill>
                <a:latin typeface="Montserrat"/>
                <a:ea typeface="Montserrat"/>
                <a:cs typeface="Montserrat"/>
                <a:sym typeface="Montserrat"/>
              </a:rPr>
              <a:t>Inf</a:t>
            </a:r>
            <a:r>
              <a:rPr lang="en-US" sz="2886" spc="170">
                <a:solidFill>
                  <a:srgbClr val="260317"/>
                </a:solidFill>
                <a:latin typeface="Montserrat"/>
                <a:ea typeface="Montserrat"/>
                <a:cs typeface="Montserrat"/>
                <a:sym typeface="Montserrat"/>
              </a:rPr>
              <a:t>ormation Gain helps us choose the best feature for splitting.</a:t>
            </a:r>
          </a:p>
          <a:p>
            <a:pPr algn="just" marL="623290" indent="-311645" lvl="1">
              <a:lnSpc>
                <a:spcPts val="5109"/>
              </a:lnSpc>
              <a:buFont typeface="Arial"/>
              <a:buChar char="•"/>
            </a:pPr>
            <a:r>
              <a:rPr lang="en-US" sz="2886" spc="170">
                <a:solidFill>
                  <a:srgbClr val="260317"/>
                </a:solidFill>
                <a:latin typeface="Montserrat"/>
                <a:ea typeface="Montserrat"/>
                <a:cs typeface="Montserrat"/>
                <a:sym typeface="Montserrat"/>
              </a:rPr>
              <a:t>It measures how much uncertainty is reduced after a split.</a:t>
            </a:r>
          </a:p>
          <a:p>
            <a:pPr algn="just" marL="623290" indent="-311645" lvl="1">
              <a:lnSpc>
                <a:spcPts val="5109"/>
              </a:lnSpc>
              <a:spcBef>
                <a:spcPct val="0"/>
              </a:spcBef>
              <a:buFont typeface="Arial"/>
              <a:buChar char="•"/>
            </a:pPr>
            <a:r>
              <a:rPr lang="en-US" sz="2886" spc="170">
                <a:solidFill>
                  <a:srgbClr val="260317"/>
                </a:solidFill>
                <a:latin typeface="Montserrat"/>
                <a:ea typeface="Montserrat"/>
                <a:cs typeface="Montserrat"/>
                <a:sym typeface="Montserrat"/>
              </a:rPr>
              <a:t>The feature with higher information gain is preferred.</a:t>
            </a:r>
          </a:p>
          <a:p>
            <a:pPr algn="just">
              <a:lnSpc>
                <a:spcPts val="5109"/>
              </a:lnSpc>
              <a:spcBef>
                <a:spcPct val="0"/>
              </a:spcBef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825571" y="1931813"/>
            <a:ext cx="11126002" cy="8599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66"/>
              </a:lnSpc>
            </a:pPr>
            <a:r>
              <a:rPr lang="en-US" sz="6528" spc="1331">
                <a:solidFill>
                  <a:srgbClr val="260317"/>
                </a:solidFill>
                <a:latin typeface="Catchy Mager"/>
                <a:ea typeface="Catchy Mager"/>
                <a:cs typeface="Catchy Mager"/>
                <a:sym typeface="Catchy Mager"/>
              </a:rPr>
              <a:t>INFORMATION</a:t>
            </a:r>
            <a:r>
              <a:rPr lang="en-US" sz="6528" spc="1331">
                <a:solidFill>
                  <a:srgbClr val="260317"/>
                </a:solidFill>
                <a:latin typeface="Catchy Mager"/>
                <a:ea typeface="Catchy Mager"/>
                <a:cs typeface="Catchy Mager"/>
                <a:sym typeface="Catchy Mager"/>
              </a:rPr>
              <a:t> GAIN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522067" y="5806526"/>
            <a:ext cx="10429505" cy="20033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26"/>
              </a:lnSpc>
            </a:pPr>
            <a:r>
              <a:rPr lang="en-US" sz="2876">
                <a:solidFill>
                  <a:srgbClr val="260317"/>
                </a:solidFill>
                <a:latin typeface="Canva Sans"/>
                <a:ea typeface="Canva Sans"/>
                <a:cs typeface="Canva Sans"/>
                <a:sym typeface="Canva Sans"/>
              </a:rPr>
              <a:t>Formula</a:t>
            </a:r>
          </a:p>
          <a:p>
            <a:pPr algn="l">
              <a:lnSpc>
                <a:spcPts val="4026"/>
              </a:lnSpc>
            </a:pPr>
            <a:r>
              <a:rPr lang="en-US" sz="2876" b="true">
                <a:solidFill>
                  <a:srgbClr val="260317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Information</a:t>
            </a:r>
            <a:r>
              <a:rPr lang="en-US" b="true" sz="2876">
                <a:solidFill>
                  <a:srgbClr val="260317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Gain = Entropy before splitting − Weighted Entropy after splitting</a:t>
            </a:r>
          </a:p>
          <a:p>
            <a:pPr algn="l">
              <a:lnSpc>
                <a:spcPts val="4026"/>
              </a:lnSpc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0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5571" y="648590"/>
            <a:ext cx="16636859" cy="8989819"/>
            <a:chOff x="0" y="0"/>
            <a:chExt cx="4381724" cy="236768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81724" cy="2367689"/>
            </a:xfrm>
            <a:custGeom>
              <a:avLst/>
              <a:gdLst/>
              <a:ahLst/>
              <a:cxnLst/>
              <a:rect r="r" b="b" t="t" l="l"/>
              <a:pathLst>
                <a:path h="2367689" w="4381724">
                  <a:moveTo>
                    <a:pt x="0" y="0"/>
                  </a:moveTo>
                  <a:lnTo>
                    <a:pt x="4381724" y="0"/>
                  </a:lnTo>
                  <a:lnTo>
                    <a:pt x="4381724" y="2367689"/>
                  </a:lnTo>
                  <a:lnTo>
                    <a:pt x="0" y="2367689"/>
                  </a:lnTo>
                  <a:close/>
                </a:path>
              </a:pathLst>
            </a:custGeom>
            <a:ln w="9525" cap="sq">
              <a:solidFill>
                <a:srgbClr val="260317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38100"/>
              <a:ext cx="4381724" cy="23295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56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1707383" y="-485055"/>
            <a:ext cx="6812693" cy="11646047"/>
            <a:chOff x="0" y="0"/>
            <a:chExt cx="894514" cy="152913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94514" cy="1529139"/>
            </a:xfrm>
            <a:custGeom>
              <a:avLst/>
              <a:gdLst/>
              <a:ahLst/>
              <a:cxnLst/>
              <a:rect r="r" b="b" t="t" l="l"/>
              <a:pathLst>
                <a:path h="1529139" w="894514">
                  <a:moveTo>
                    <a:pt x="10228" y="0"/>
                  </a:moveTo>
                  <a:lnTo>
                    <a:pt x="884287" y="0"/>
                  </a:lnTo>
                  <a:cubicBezTo>
                    <a:pt x="889935" y="0"/>
                    <a:pt x="894514" y="4579"/>
                    <a:pt x="894514" y="10228"/>
                  </a:cubicBezTo>
                  <a:lnTo>
                    <a:pt x="894514" y="1518911"/>
                  </a:lnTo>
                  <a:cubicBezTo>
                    <a:pt x="894514" y="1521624"/>
                    <a:pt x="893437" y="1524225"/>
                    <a:pt x="891519" y="1526143"/>
                  </a:cubicBezTo>
                  <a:cubicBezTo>
                    <a:pt x="889600" y="1528061"/>
                    <a:pt x="886999" y="1529139"/>
                    <a:pt x="884287" y="1529139"/>
                  </a:cubicBezTo>
                  <a:lnTo>
                    <a:pt x="10228" y="1529139"/>
                  </a:lnTo>
                  <a:cubicBezTo>
                    <a:pt x="4579" y="1529139"/>
                    <a:pt x="0" y="1524560"/>
                    <a:pt x="0" y="1518911"/>
                  </a:cubicBezTo>
                  <a:lnTo>
                    <a:pt x="0" y="10228"/>
                  </a:lnTo>
                  <a:cubicBezTo>
                    <a:pt x="0" y="7515"/>
                    <a:pt x="1078" y="4914"/>
                    <a:pt x="2996" y="2996"/>
                  </a:cubicBezTo>
                  <a:cubicBezTo>
                    <a:pt x="4914" y="1078"/>
                    <a:pt x="7515" y="0"/>
                    <a:pt x="10228" y="0"/>
                  </a:cubicBezTo>
                  <a:close/>
                </a:path>
              </a:pathLst>
            </a:custGeom>
            <a:solidFill>
              <a:srgbClr val="EAD3E0"/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894514" cy="15862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480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0497771" y="3678679"/>
            <a:ext cx="7325203" cy="4087108"/>
          </a:xfrm>
          <a:custGeom>
            <a:avLst/>
            <a:gdLst/>
            <a:ahLst/>
            <a:cxnLst/>
            <a:rect r="r" b="b" t="t" l="l"/>
            <a:pathLst>
              <a:path h="4087108" w="7325203">
                <a:moveTo>
                  <a:pt x="0" y="0"/>
                </a:moveTo>
                <a:lnTo>
                  <a:pt x="7325203" y="0"/>
                </a:lnTo>
                <a:lnTo>
                  <a:pt x="7325203" y="4087108"/>
                </a:lnTo>
                <a:lnTo>
                  <a:pt x="0" y="408710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240078" y="3122336"/>
            <a:ext cx="10005494" cy="56933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50262" indent="-325131" lvl="1">
              <a:lnSpc>
                <a:spcPts val="5059"/>
              </a:lnSpc>
              <a:buFont typeface="Arial"/>
              <a:buChar char="•"/>
            </a:pPr>
            <a:r>
              <a:rPr lang="en-US" sz="3011">
                <a:solidFill>
                  <a:srgbClr val="260317"/>
                </a:solidFill>
                <a:latin typeface="Montserrat"/>
                <a:ea typeface="Montserrat"/>
                <a:cs typeface="Montserrat"/>
                <a:sym typeface="Montserrat"/>
              </a:rPr>
              <a:t>A very la</a:t>
            </a:r>
            <a:r>
              <a:rPr lang="en-US" sz="3011">
                <a:solidFill>
                  <a:srgbClr val="260317"/>
                </a:solidFill>
                <a:latin typeface="Montserrat"/>
                <a:ea typeface="Montserrat"/>
                <a:cs typeface="Montserrat"/>
                <a:sym typeface="Montserrat"/>
              </a:rPr>
              <a:t>rge decision tree may overfit the training data.</a:t>
            </a:r>
          </a:p>
          <a:p>
            <a:pPr algn="l" marL="650262" indent="-325131" lvl="1">
              <a:lnSpc>
                <a:spcPts val="5059"/>
              </a:lnSpc>
              <a:buFont typeface="Arial"/>
              <a:buChar char="•"/>
            </a:pPr>
            <a:r>
              <a:rPr lang="en-US" sz="3011">
                <a:solidFill>
                  <a:srgbClr val="260317"/>
                </a:solidFill>
                <a:latin typeface="Montserrat"/>
                <a:ea typeface="Montserrat"/>
                <a:cs typeface="Montserrat"/>
                <a:sym typeface="Montserrat"/>
              </a:rPr>
              <a:t>Pruning removes unnecessary branches.</a:t>
            </a:r>
          </a:p>
          <a:p>
            <a:pPr algn="l">
              <a:lnSpc>
                <a:spcPts val="5059"/>
              </a:lnSpc>
            </a:pPr>
            <a:r>
              <a:rPr lang="en-US" sz="3011" b="true">
                <a:solidFill>
                  <a:srgbClr val="26031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It makes the tree:</a:t>
            </a:r>
          </a:p>
          <a:p>
            <a:pPr algn="l" marL="650262" indent="-325131" lvl="1">
              <a:lnSpc>
                <a:spcPts val="5059"/>
              </a:lnSpc>
              <a:buFont typeface="Arial"/>
              <a:buChar char="•"/>
            </a:pPr>
            <a:r>
              <a:rPr lang="en-US" sz="3011">
                <a:solidFill>
                  <a:srgbClr val="260317"/>
                </a:solidFill>
                <a:latin typeface="Montserrat"/>
                <a:ea typeface="Montserrat"/>
                <a:cs typeface="Montserrat"/>
                <a:sym typeface="Montserrat"/>
              </a:rPr>
              <a:t>Smaller</a:t>
            </a:r>
          </a:p>
          <a:p>
            <a:pPr algn="l" marL="650262" indent="-325131" lvl="1">
              <a:lnSpc>
                <a:spcPts val="5059"/>
              </a:lnSpc>
              <a:buFont typeface="Arial"/>
              <a:buChar char="•"/>
            </a:pPr>
            <a:r>
              <a:rPr lang="en-US" sz="3011">
                <a:solidFill>
                  <a:srgbClr val="260317"/>
                </a:solidFill>
                <a:latin typeface="Montserrat"/>
                <a:ea typeface="Montserrat"/>
                <a:cs typeface="Montserrat"/>
                <a:sym typeface="Montserrat"/>
              </a:rPr>
              <a:t>Simpler</a:t>
            </a:r>
          </a:p>
          <a:p>
            <a:pPr algn="l" marL="650262" indent="-325131" lvl="1">
              <a:lnSpc>
                <a:spcPts val="5059"/>
              </a:lnSpc>
              <a:buFont typeface="Arial"/>
              <a:buChar char="•"/>
            </a:pPr>
            <a:r>
              <a:rPr lang="en-US" sz="3011">
                <a:solidFill>
                  <a:srgbClr val="260317"/>
                </a:solidFill>
                <a:latin typeface="Montserrat"/>
                <a:ea typeface="Montserrat"/>
                <a:cs typeface="Montserrat"/>
                <a:sym typeface="Montserrat"/>
              </a:rPr>
              <a:t>Easier to understand</a:t>
            </a:r>
          </a:p>
          <a:p>
            <a:pPr algn="l" marL="650262" indent="-325131" lvl="1">
              <a:lnSpc>
                <a:spcPts val="5059"/>
              </a:lnSpc>
              <a:buFont typeface="Arial"/>
              <a:buChar char="•"/>
            </a:pPr>
            <a:r>
              <a:rPr lang="en-US" sz="3011">
                <a:solidFill>
                  <a:srgbClr val="260317"/>
                </a:solidFill>
                <a:latin typeface="Montserrat"/>
                <a:ea typeface="Montserrat"/>
                <a:cs typeface="Montserrat"/>
                <a:sym typeface="Montserrat"/>
              </a:rPr>
              <a:t>Less likely to overfit</a:t>
            </a:r>
          </a:p>
          <a:p>
            <a:pPr algn="l">
              <a:lnSpc>
                <a:spcPts val="5059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1592374" y="1777617"/>
            <a:ext cx="16230600" cy="1023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56"/>
              </a:lnSpc>
            </a:pPr>
            <a:r>
              <a:rPr lang="en-US" sz="6468" spc="1086">
                <a:solidFill>
                  <a:srgbClr val="260317"/>
                </a:solidFill>
                <a:latin typeface="Catchy Mager"/>
                <a:ea typeface="Catchy Mager"/>
                <a:cs typeface="Catchy Mager"/>
                <a:sym typeface="Catchy Mager"/>
              </a:rPr>
              <a:t>TREE PRUNING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1576" t="-3683" r="-850" b="-48743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825571" y="648590"/>
            <a:ext cx="16636859" cy="8989819"/>
            <a:chOff x="0" y="0"/>
            <a:chExt cx="4381724" cy="236768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381724" cy="2367689"/>
            </a:xfrm>
            <a:custGeom>
              <a:avLst/>
              <a:gdLst/>
              <a:ahLst/>
              <a:cxnLst/>
              <a:rect r="r" b="b" t="t" l="l"/>
              <a:pathLst>
                <a:path h="2367689" w="4381724">
                  <a:moveTo>
                    <a:pt x="0" y="0"/>
                  </a:moveTo>
                  <a:lnTo>
                    <a:pt x="4381724" y="0"/>
                  </a:lnTo>
                  <a:lnTo>
                    <a:pt x="4381724" y="2367689"/>
                  </a:lnTo>
                  <a:lnTo>
                    <a:pt x="0" y="2367689"/>
                  </a:lnTo>
                  <a:close/>
                </a:path>
              </a:pathLst>
            </a:custGeom>
            <a:ln w="38100" cap="sq">
              <a:solidFill>
                <a:srgbClr val="F3F0F1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38100"/>
              <a:ext cx="4381724" cy="23295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56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3323638" y="1918409"/>
            <a:ext cx="11640724" cy="1105365"/>
            <a:chOff x="0" y="0"/>
            <a:chExt cx="3065870" cy="29112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065870" cy="291125"/>
            </a:xfrm>
            <a:custGeom>
              <a:avLst/>
              <a:gdLst/>
              <a:ahLst/>
              <a:cxnLst/>
              <a:rect r="r" b="b" t="t" l="l"/>
              <a:pathLst>
                <a:path h="291125" w="3065870">
                  <a:moveTo>
                    <a:pt x="0" y="0"/>
                  </a:moveTo>
                  <a:lnTo>
                    <a:pt x="3065870" y="0"/>
                  </a:lnTo>
                  <a:lnTo>
                    <a:pt x="3065870" y="291125"/>
                  </a:lnTo>
                  <a:lnTo>
                    <a:pt x="0" y="291125"/>
                  </a:lnTo>
                  <a:close/>
                </a:path>
              </a:pathLst>
            </a:custGeom>
            <a:solidFill>
              <a:srgbClr val="FAEEF5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3065870" cy="329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r">
                <a:lnSpc>
                  <a:spcPts val="265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6573791" y="2136313"/>
            <a:ext cx="5140418" cy="7362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06"/>
              </a:lnSpc>
            </a:pPr>
            <a:r>
              <a:rPr lang="en-US" sz="5294" spc="587">
                <a:solidFill>
                  <a:srgbClr val="260317"/>
                </a:solidFill>
                <a:latin typeface="Catchy Mager"/>
                <a:ea typeface="Catchy Mager"/>
                <a:cs typeface="Catchy Mager"/>
                <a:sym typeface="Catchy Mager"/>
              </a:rPr>
              <a:t>CONCLUSION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767518" y="4222630"/>
            <a:ext cx="14425732" cy="39688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59" indent="-367030" lvl="1">
              <a:lnSpc>
                <a:spcPts val="5303"/>
              </a:lnSpc>
              <a:buFont typeface="Arial"/>
              <a:buChar char="•"/>
            </a:pPr>
            <a:r>
              <a:rPr lang="en-US" sz="3399">
                <a:solidFill>
                  <a:srgbClr val="260317"/>
                </a:solidFill>
                <a:latin typeface="Montserrat"/>
                <a:ea typeface="Montserrat"/>
                <a:cs typeface="Montserrat"/>
                <a:sym typeface="Montserrat"/>
              </a:rPr>
              <a:t>Decision trees represent knowle</a:t>
            </a:r>
            <a:r>
              <a:rPr lang="en-US" sz="3399">
                <a:solidFill>
                  <a:srgbClr val="260317"/>
                </a:solidFill>
                <a:latin typeface="Montserrat"/>
                <a:ea typeface="Montserrat"/>
                <a:cs typeface="Montserrat"/>
                <a:sym typeface="Montserrat"/>
              </a:rPr>
              <a:t>dge using a tree structure.</a:t>
            </a:r>
          </a:p>
          <a:p>
            <a:pPr algn="l" marL="734059" indent="-367030" lvl="1">
              <a:lnSpc>
                <a:spcPts val="5303"/>
              </a:lnSpc>
              <a:buFont typeface="Arial"/>
              <a:buChar char="•"/>
            </a:pPr>
            <a:r>
              <a:rPr lang="en-US" sz="3399">
                <a:solidFill>
                  <a:srgbClr val="260317"/>
                </a:solidFill>
                <a:latin typeface="Montserrat"/>
                <a:ea typeface="Montserrat"/>
                <a:cs typeface="Montserrat"/>
                <a:sym typeface="Montserrat"/>
              </a:rPr>
              <a:t>Entropy measures uncertainty.</a:t>
            </a:r>
          </a:p>
          <a:p>
            <a:pPr algn="l" marL="734059" indent="-367030" lvl="1">
              <a:lnSpc>
                <a:spcPts val="5303"/>
              </a:lnSpc>
              <a:buFont typeface="Arial"/>
              <a:buChar char="•"/>
            </a:pPr>
            <a:r>
              <a:rPr lang="en-US" sz="3399">
                <a:solidFill>
                  <a:srgbClr val="260317"/>
                </a:solidFill>
                <a:latin typeface="Montserrat"/>
                <a:ea typeface="Montserrat"/>
                <a:cs typeface="Montserrat"/>
                <a:sym typeface="Montserrat"/>
              </a:rPr>
              <a:t>Information Gain helps select the best feature.</a:t>
            </a:r>
          </a:p>
          <a:p>
            <a:pPr algn="l" marL="734059" indent="-367030" lvl="1">
              <a:lnSpc>
                <a:spcPts val="5303"/>
              </a:lnSpc>
              <a:buFont typeface="Arial"/>
              <a:buChar char="•"/>
            </a:pPr>
            <a:r>
              <a:rPr lang="en-US" sz="3399">
                <a:solidFill>
                  <a:srgbClr val="260317"/>
                </a:solidFill>
                <a:latin typeface="Montserrat"/>
                <a:ea typeface="Montserrat"/>
                <a:cs typeface="Montserrat"/>
                <a:sym typeface="Montserrat"/>
              </a:rPr>
              <a:t>Pruning reduces overfitting.</a:t>
            </a:r>
          </a:p>
          <a:p>
            <a:pPr algn="l" marL="734059" indent="-367030" lvl="1">
              <a:lnSpc>
                <a:spcPts val="5303"/>
              </a:lnSpc>
              <a:buFont typeface="Arial"/>
              <a:buChar char="•"/>
            </a:pPr>
            <a:r>
              <a:rPr lang="en-US" sz="3399">
                <a:solidFill>
                  <a:srgbClr val="260317"/>
                </a:solidFill>
                <a:latin typeface="Montserrat"/>
                <a:ea typeface="Montserrat"/>
                <a:cs typeface="Montserrat"/>
                <a:sym typeface="Montserrat"/>
              </a:rPr>
              <a:t>Decision trees are useful for classification and decision-making.</a:t>
            </a:r>
          </a:p>
          <a:p>
            <a:pPr algn="l">
              <a:lnSpc>
                <a:spcPts val="5303"/>
              </a:lnSpc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DAHXWPQAMvk</dc:identifier>
  <dcterms:modified xsi:type="dcterms:W3CDTF">2011-08-01T06:04:30Z</dcterms:modified>
  <cp:revision>1</cp:revision>
  <dc:title>Decision Tree Learning and Representation</dc:title>
</cp:coreProperties>
</file>